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2286000"/>
          </a:xfrm>
          <a:prstGeom prst="rect">
            <a:avLst/>
          </a:prstGeom>
          <a:solidFill>
            <a:srgbClr val="00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9144000" cy="914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微软雅黑"/>
                <a:ea typeface="微软雅黑"/>
              </a:rPr>
              <a:t>中州养老智慧管理平台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C8DCFF"/>
                </a:solidFill>
                <a:latin typeface="微软雅黑"/>
                <a:ea typeface="微软雅黑"/>
              </a:rPr>
              <a:t>科技赋能养老 · 智慧守护夕阳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4C8E6"/>
                </a:solidFill>
                <a:latin typeface="微软雅黑"/>
                <a:ea typeface="微软雅黑"/>
              </a:rPr>
              <a:t>项目研发团队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4C8E6"/>
                </a:solidFill>
                <a:latin typeface="微软雅黑"/>
                <a:ea typeface="微软雅黑"/>
              </a:rPr>
              <a:t>2026年6月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457200"/>
            <a:ext cx="1097280" cy="109728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003366"/>
                </a:solidFill>
                <a:latin typeface="微软雅黑"/>
                <a:ea typeface="微软雅黑"/>
              </a:rPr>
              <a:t>中州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目录 /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402336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822960" cy="100584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002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366"/>
                </a:solidFill>
                <a:latin typeface="微软雅黑"/>
                <a:ea typeface="微软雅黑"/>
              </a:rPr>
              <a:t>项目背景与需求分析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87878"/>
                </a:solidFill>
                <a:latin typeface="微软雅黑"/>
                <a:ea typeface="微软雅黑"/>
              </a:rPr>
              <a:t>行业背景 · 痛点分析 · 建设目标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463040"/>
            <a:ext cx="402336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0" y="1463040"/>
            <a:ext cx="822960" cy="100584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16002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366"/>
                </a:solidFill>
                <a:latin typeface="微软雅黑"/>
                <a:ea typeface="微软雅黑"/>
              </a:rPr>
              <a:t>系统整体架构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87878"/>
                </a:solidFill>
                <a:latin typeface="微软雅黑"/>
                <a:ea typeface="微软雅黑"/>
              </a:rPr>
              <a:t>技术架构 · 功能架构 · 部署架构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97480"/>
            <a:ext cx="402336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697480"/>
            <a:ext cx="822960" cy="100584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8346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366"/>
                </a:solidFill>
                <a:latin typeface="微软雅黑"/>
                <a:ea typeface="微软雅黑"/>
              </a:rPr>
              <a:t>核心功能模块展示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461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87878"/>
                </a:solidFill>
                <a:latin typeface="微软雅黑"/>
                <a:ea typeface="微软雅黑"/>
              </a:rPr>
              <a:t>入退管理 · 养老护理 · AI咨询 · 系统管理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2697480"/>
            <a:ext cx="402336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54880" y="2697480"/>
            <a:ext cx="822960" cy="100584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28346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366"/>
                </a:solidFill>
                <a:latin typeface="微软雅黑"/>
                <a:ea typeface="微软雅黑"/>
              </a:rPr>
              <a:t>技术亮点与创新点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32461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87878"/>
                </a:solidFill>
                <a:latin typeface="微软雅黑"/>
                <a:ea typeface="微软雅黑"/>
              </a:rPr>
              <a:t>前后端分离 · 智能权限 · AI赋能 · 高可用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31920"/>
            <a:ext cx="402336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931920"/>
            <a:ext cx="822960" cy="100584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0690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366"/>
                </a:solidFill>
                <a:latin typeface="微软雅黑"/>
                <a:ea typeface="微软雅黑"/>
              </a:rPr>
              <a:t>系统安全保障体系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4805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87878"/>
                </a:solidFill>
                <a:latin typeface="微软雅黑"/>
                <a:ea typeface="微软雅黑"/>
              </a:rPr>
              <a:t>数据安全 · 网络安全 · 应用安全 · 运维安全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3931920"/>
            <a:ext cx="402336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54880" y="3931920"/>
            <a:ext cx="822960" cy="100584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40690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366"/>
                </a:solidFill>
                <a:latin typeface="微软雅黑"/>
                <a:ea typeface="微软雅黑"/>
              </a:rPr>
              <a:t>项目实施与团队分工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44805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87878"/>
                </a:solidFill>
                <a:latin typeface="微软雅黑"/>
                <a:ea typeface="微软雅黑"/>
              </a:rPr>
              <a:t>团队介绍 · 分工明细 · 项目管理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166360"/>
            <a:ext cx="402336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5166360"/>
            <a:ext cx="822960" cy="100584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3035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366"/>
                </a:solidFill>
                <a:latin typeface="微软雅黑"/>
                <a:ea typeface="微软雅黑"/>
              </a:rPr>
              <a:t>项目成果与效益分析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715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87878"/>
                </a:solidFill>
                <a:latin typeface="微软雅黑"/>
                <a:ea typeface="微软雅黑"/>
              </a:rPr>
              <a:t>管理效益 · 服务效益 · 经济效益 · 社会效益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0" y="5166360"/>
            <a:ext cx="402336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754880" y="5166360"/>
            <a:ext cx="822960" cy="100584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53035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366"/>
                </a:solidFill>
                <a:latin typeface="微软雅黑"/>
                <a:ea typeface="微软雅黑"/>
              </a:rPr>
              <a:t>未来规划与发展展望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5715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87878"/>
                </a:solidFill>
                <a:latin typeface="微软雅黑"/>
                <a:ea typeface="微软雅黑"/>
              </a:rPr>
              <a:t>短期规划 · 中期规划 · 长期规划 · 愿景展望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66019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微软雅黑"/>
                <a:ea typeface="微软雅黑"/>
              </a:rPr>
              <a:t>中州养老智慧管理平台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66019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  <a:latin typeface="微软雅黑"/>
                <a:ea typeface="微软雅黑"/>
              </a:rPr>
              <a:t>第 2 页 / 共 20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71600" y="1371600"/>
            <a:ext cx="1828800" cy="18288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200" b="1">
                <a:solidFill>
                  <a:srgbClr val="003366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0" y="16459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项目背景与需求分析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2651760"/>
            <a:ext cx="1371600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0" y="28346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CFF"/>
                </a:solidFill>
                <a:latin typeface="微软雅黑"/>
                <a:ea typeface="微软雅黑"/>
              </a:rPr>
              <a:t>Project Background &amp; Requirements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项目背景与需求分析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73152" cy="3200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366"/>
                </a:solidFill>
                <a:latin typeface="微软雅黑"/>
                <a:ea typeface="微软雅黑"/>
              </a:rPr>
              <a:t>【人口老龄化形势严峻】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874520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我国60岁以上老年人口已突破2.8亿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221992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人口老龄化率接近20%，进入中度老龄化社会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569464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7802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养老服务需求持续快速增长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916936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82549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传统养老模式难以满足日益增长的需求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310128"/>
            <a:ext cx="73152" cy="3200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918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366"/>
                </a:solidFill>
                <a:latin typeface="微软雅黑"/>
                <a:ea typeface="微软雅黑"/>
              </a:rPr>
              <a:t>【传统养老管理痛点】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3813048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2160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人工登记效率低，纸质档案易丢失难查询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4160520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0690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护理流程不规范，服务质量参差不齐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4507992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4165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老人健康状况难以及时掌握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" y="4855464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6402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紧急情况响应滞后，存在安全隐患</a:t>
            </a:r>
          </a:p>
        </p:txBody>
      </p:sp>
      <p:sp>
        <p:nvSpPr>
          <p:cNvPr id="25" name="Oval 24"/>
          <p:cNvSpPr/>
          <p:nvPr/>
        </p:nvSpPr>
        <p:spPr>
          <a:xfrm>
            <a:off x="731520" y="5202936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11149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家属信息不对称，沟通成本高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1371600"/>
            <a:ext cx="18288" cy="475488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46320" y="1371600"/>
            <a:ext cx="73152" cy="3200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0" y="135331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366"/>
                </a:solidFill>
                <a:latin typeface="微软雅黑"/>
                <a:ea typeface="微软雅黑"/>
              </a:rPr>
              <a:t>【政策支持机遇】</a:t>
            </a:r>
          </a:p>
        </p:txBody>
      </p:sp>
      <p:sp>
        <p:nvSpPr>
          <p:cNvPr id="30" name="Oval 29"/>
          <p:cNvSpPr/>
          <p:nvPr/>
        </p:nvSpPr>
        <p:spPr>
          <a:xfrm>
            <a:off x="5029200" y="1874520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12080" y="17830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国家大力推进智慧养老建设</a:t>
            </a:r>
          </a:p>
        </p:txBody>
      </p:sp>
      <p:sp>
        <p:nvSpPr>
          <p:cNvPr id="32" name="Oval 31"/>
          <p:cNvSpPr/>
          <p:nvPr/>
        </p:nvSpPr>
        <p:spPr>
          <a:xfrm>
            <a:off x="5029200" y="2221992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80" y="21305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"互联网+养老服务"政策持续加码</a:t>
            </a:r>
          </a:p>
        </p:txBody>
      </p:sp>
      <p:sp>
        <p:nvSpPr>
          <p:cNvPr id="34" name="Oval 33"/>
          <p:cNvSpPr/>
          <p:nvPr/>
        </p:nvSpPr>
        <p:spPr>
          <a:xfrm>
            <a:off x="5029200" y="2569464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12080" y="247802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各地积极探索智慧养老新模式</a:t>
            </a:r>
          </a:p>
        </p:txBody>
      </p:sp>
      <p:sp>
        <p:nvSpPr>
          <p:cNvPr id="36" name="Oval 35"/>
          <p:cNvSpPr/>
          <p:nvPr/>
        </p:nvSpPr>
        <p:spPr>
          <a:xfrm>
            <a:off x="5029200" y="2916936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12080" y="282549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数字化转型成为养老行业发展必然趋势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46320" y="3310128"/>
            <a:ext cx="73152" cy="3200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0" y="32918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366"/>
                </a:solidFill>
                <a:latin typeface="微软雅黑"/>
                <a:ea typeface="微软雅黑"/>
              </a:rPr>
              <a:t>【项目建设目标】</a:t>
            </a:r>
          </a:p>
        </p:txBody>
      </p:sp>
      <p:sp>
        <p:nvSpPr>
          <p:cNvPr id="40" name="Oval 39"/>
          <p:cNvSpPr/>
          <p:nvPr/>
        </p:nvSpPr>
        <p:spPr>
          <a:xfrm>
            <a:off x="5029200" y="3813048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12080" y="372160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打造一站式智慧养老管理平台</a:t>
            </a:r>
          </a:p>
        </p:txBody>
      </p:sp>
      <p:sp>
        <p:nvSpPr>
          <p:cNvPr id="42" name="Oval 41"/>
          <p:cNvSpPr/>
          <p:nvPr/>
        </p:nvSpPr>
        <p:spPr>
          <a:xfrm>
            <a:off x="5029200" y="4160520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12080" y="40690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实现养老机构数字化、智能化管理</a:t>
            </a:r>
          </a:p>
        </p:txBody>
      </p:sp>
      <p:sp>
        <p:nvSpPr>
          <p:cNvPr id="44" name="Oval 43"/>
          <p:cNvSpPr/>
          <p:nvPr/>
        </p:nvSpPr>
        <p:spPr>
          <a:xfrm>
            <a:off x="5029200" y="4507992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12080" y="44165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提升养老服务质量和运营效率</a:t>
            </a:r>
          </a:p>
        </p:txBody>
      </p:sp>
      <p:sp>
        <p:nvSpPr>
          <p:cNvPr id="46" name="Oval 45"/>
          <p:cNvSpPr/>
          <p:nvPr/>
        </p:nvSpPr>
        <p:spPr>
          <a:xfrm>
            <a:off x="5029200" y="4855464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12080" y="476402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保障老人安全，提升生活品质</a:t>
            </a:r>
          </a:p>
        </p:txBody>
      </p:sp>
      <p:sp>
        <p:nvSpPr>
          <p:cNvPr id="48" name="Oval 47"/>
          <p:cNvSpPr/>
          <p:nvPr/>
        </p:nvSpPr>
        <p:spPr>
          <a:xfrm>
            <a:off x="5029200" y="5202936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212080" y="511149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让每一位老人享有有尊严、有品质的晚年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66019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微软雅黑"/>
                <a:ea typeface="微软雅黑"/>
              </a:rPr>
              <a:t>中州养老智慧管理平台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0" y="66019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  <a:latin typeface="微软雅黑"/>
                <a:ea typeface="微软雅黑"/>
              </a:rPr>
              <a:t>第 4 页 / 共 20 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71600" y="1371600"/>
            <a:ext cx="1828800" cy="18288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200" b="1">
                <a:solidFill>
                  <a:srgbClr val="003366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0" y="16459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系统整体架构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2651760"/>
            <a:ext cx="1371600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0" y="28346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CFF"/>
                </a:solidFill>
                <a:latin typeface="微软雅黑"/>
                <a:ea typeface="微软雅黑"/>
              </a:rPr>
              <a:t>System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系统整体架构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73152" cy="3200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366"/>
                </a:solidFill>
                <a:latin typeface="微软雅黑"/>
                <a:ea typeface="微软雅黑"/>
              </a:rPr>
              <a:t>【技术架构 - 前端】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874520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Vue.js 2.6 + Element UI组件库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221992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响应式设计，支持PC/平板多终端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569464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7802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动态路由与权限控制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916936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82549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模块化开发，组件复用率高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64408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1729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前端工程化，构建打包优化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57600"/>
            <a:ext cx="73152" cy="3200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63931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366"/>
                </a:solidFill>
                <a:latin typeface="微软雅黑"/>
                <a:ea typeface="微软雅黑"/>
              </a:rPr>
              <a:t>【技术架构 - 后端】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4160520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0690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Spring Boot 3.5 + Java 21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4507992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4165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MyBatis Plus持久层框架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" y="4855464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6402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MySQL + Redis数据存储</a:t>
            </a:r>
          </a:p>
        </p:txBody>
      </p:sp>
      <p:sp>
        <p:nvSpPr>
          <p:cNvPr id="25" name="Oval 24"/>
          <p:cNvSpPr/>
          <p:nvPr/>
        </p:nvSpPr>
        <p:spPr>
          <a:xfrm>
            <a:off x="731520" y="5202936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11149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Druid高性能连接池</a:t>
            </a:r>
          </a:p>
        </p:txBody>
      </p:sp>
      <p:sp>
        <p:nvSpPr>
          <p:cNvPr id="27" name="Oval 26"/>
          <p:cNvSpPr/>
          <p:nvPr/>
        </p:nvSpPr>
        <p:spPr>
          <a:xfrm>
            <a:off x="731520" y="5550408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4589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Spring Security安全框架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1371600"/>
            <a:ext cx="18288" cy="475488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846320" y="1371600"/>
            <a:ext cx="73152" cy="3200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0" y="135331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366"/>
                </a:solidFill>
                <a:latin typeface="微软雅黑"/>
                <a:ea typeface="微软雅黑"/>
              </a:rPr>
              <a:t>【部署架构】</a:t>
            </a:r>
          </a:p>
        </p:txBody>
      </p:sp>
      <p:sp>
        <p:nvSpPr>
          <p:cNvPr id="32" name="Oval 31"/>
          <p:cNvSpPr/>
          <p:nvPr/>
        </p:nvSpPr>
        <p:spPr>
          <a:xfrm>
            <a:off x="5029200" y="1874520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80" y="17830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前后端分离部署，独立扩展</a:t>
            </a:r>
          </a:p>
        </p:txBody>
      </p:sp>
      <p:sp>
        <p:nvSpPr>
          <p:cNvPr id="34" name="Oval 33"/>
          <p:cNvSpPr/>
          <p:nvPr/>
        </p:nvSpPr>
        <p:spPr>
          <a:xfrm>
            <a:off x="5029200" y="2221992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12080" y="21305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Nginx反向代理，负载均衡</a:t>
            </a:r>
          </a:p>
        </p:txBody>
      </p:sp>
      <p:sp>
        <p:nvSpPr>
          <p:cNvPr id="36" name="Oval 35"/>
          <p:cNvSpPr/>
          <p:nvPr/>
        </p:nvSpPr>
        <p:spPr>
          <a:xfrm>
            <a:off x="5029200" y="2569464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12080" y="247802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支持容器化部署（Docker/K8s）</a:t>
            </a:r>
          </a:p>
        </p:txBody>
      </p:sp>
      <p:sp>
        <p:nvSpPr>
          <p:cNvPr id="38" name="Oval 37"/>
          <p:cNvSpPr/>
          <p:nvPr/>
        </p:nvSpPr>
        <p:spPr>
          <a:xfrm>
            <a:off x="5029200" y="2916936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12080" y="282549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多环境配置（开发/测试/生产）</a:t>
            </a:r>
          </a:p>
        </p:txBody>
      </p:sp>
      <p:sp>
        <p:nvSpPr>
          <p:cNvPr id="40" name="Oval 39"/>
          <p:cNvSpPr/>
          <p:nvPr/>
        </p:nvSpPr>
        <p:spPr>
          <a:xfrm>
            <a:off x="5029200" y="3264408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12080" y="31729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CI/CD自动化构建部署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46320" y="3657600"/>
            <a:ext cx="73152" cy="3200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0" y="363931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366"/>
                </a:solidFill>
                <a:latin typeface="微软雅黑"/>
                <a:ea typeface="微软雅黑"/>
              </a:rPr>
              <a:t>【功能架构】</a:t>
            </a:r>
          </a:p>
        </p:txBody>
      </p:sp>
      <p:sp>
        <p:nvSpPr>
          <p:cNvPr id="44" name="Oval 43"/>
          <p:cNvSpPr/>
          <p:nvPr/>
        </p:nvSpPr>
        <p:spPr>
          <a:xfrm>
            <a:off x="5029200" y="4160520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12080" y="40690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入退管理：健康评估、入住办理、退住管理</a:t>
            </a:r>
          </a:p>
        </p:txBody>
      </p:sp>
      <p:sp>
        <p:nvSpPr>
          <p:cNvPr id="46" name="Oval 45"/>
          <p:cNvSpPr/>
          <p:nvPr/>
        </p:nvSpPr>
        <p:spPr>
          <a:xfrm>
            <a:off x="5029200" y="4507992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12080" y="44165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养老护理：护理项目、计划、等级、来访管理</a:t>
            </a:r>
          </a:p>
        </p:txBody>
      </p:sp>
      <p:sp>
        <p:nvSpPr>
          <p:cNvPr id="48" name="Oval 47"/>
          <p:cNvSpPr/>
          <p:nvPr/>
        </p:nvSpPr>
        <p:spPr>
          <a:xfrm>
            <a:off x="5029200" y="4855464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212080" y="476402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AI咨询：小智健康智能助手</a:t>
            </a:r>
          </a:p>
        </p:txBody>
      </p:sp>
      <p:sp>
        <p:nvSpPr>
          <p:cNvPr id="50" name="Oval 49"/>
          <p:cNvSpPr/>
          <p:nvPr/>
        </p:nvSpPr>
        <p:spPr>
          <a:xfrm>
            <a:off x="5029200" y="5202936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12080" y="511149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系统管理：用户、角色、菜单、部门</a:t>
            </a:r>
          </a:p>
        </p:txBody>
      </p:sp>
      <p:sp>
        <p:nvSpPr>
          <p:cNvPr id="52" name="Oval 51"/>
          <p:cNvSpPr/>
          <p:nvPr/>
        </p:nvSpPr>
        <p:spPr>
          <a:xfrm>
            <a:off x="5029200" y="5550408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12080" y="54589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系统监控：日志、在线用户、服务监控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66019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微软雅黑"/>
                <a:ea typeface="微软雅黑"/>
              </a:rPr>
              <a:t>中州养老智慧管理平台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0" y="66019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  <a:latin typeface="微软雅黑"/>
                <a:ea typeface="微软雅黑"/>
              </a:rPr>
              <a:t>第 6 页 / 共 20 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71600" y="1371600"/>
            <a:ext cx="1828800" cy="18288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200" b="1">
                <a:solidFill>
                  <a:srgbClr val="003366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0" y="16459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核心功能模块展示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2651760"/>
            <a:ext cx="1371600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0" y="28346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CFF"/>
                </a:solidFill>
                <a:latin typeface="微软雅黑"/>
                <a:ea typeface="微软雅黑"/>
              </a:rPr>
              <a:t>Core Function Modules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核心功能 - 入退管理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265176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651760" cy="54864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📋  健康评估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2130552"/>
            <a:ext cx="73152" cy="7315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微软雅黑"/>
                <a:ea typeface="微软雅黑"/>
              </a:rPr>
              <a:t>多维度健康评估体系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441448"/>
            <a:ext cx="73152" cy="7315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6829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微软雅黑"/>
                <a:ea typeface="微软雅黑"/>
              </a:rPr>
              <a:t>健康/认知/行动/自理能力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752344"/>
            <a:ext cx="73152" cy="7315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7919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微软雅黑"/>
                <a:ea typeface="微软雅黑"/>
              </a:rPr>
              <a:t>既往病史与过敏史管理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063240"/>
            <a:ext cx="73152" cy="7315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99008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微软雅黑"/>
                <a:ea typeface="微软雅黑"/>
              </a:rPr>
              <a:t>评估流程标准化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3374136"/>
            <a:ext cx="73152" cy="7315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0098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微软雅黑"/>
                <a:ea typeface="微软雅黑"/>
              </a:rPr>
              <a:t>与入住护理模块联动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1371600"/>
            <a:ext cx="265176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74720" y="1371600"/>
            <a:ext cx="2651760" cy="54864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🏠  入住办理</a:t>
            </a:r>
          </a:p>
        </p:txBody>
      </p:sp>
      <p:sp>
        <p:nvSpPr>
          <p:cNvPr id="19" name="Oval 18"/>
          <p:cNvSpPr/>
          <p:nvPr/>
        </p:nvSpPr>
        <p:spPr>
          <a:xfrm>
            <a:off x="3657600" y="2130552"/>
            <a:ext cx="73152" cy="7315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94760" y="205740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微软雅黑"/>
                <a:ea typeface="微软雅黑"/>
              </a:rPr>
              <a:t>全流程入住管理</a:t>
            </a:r>
          </a:p>
        </p:txBody>
      </p:sp>
      <p:sp>
        <p:nvSpPr>
          <p:cNvPr id="21" name="Oval 20"/>
          <p:cNvSpPr/>
          <p:nvPr/>
        </p:nvSpPr>
        <p:spPr>
          <a:xfrm>
            <a:off x="3657600" y="2441448"/>
            <a:ext cx="73152" cy="7315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94760" y="236829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微软雅黑"/>
                <a:ea typeface="微软雅黑"/>
              </a:rPr>
              <a:t>智能床位分配</a:t>
            </a:r>
          </a:p>
        </p:txBody>
      </p:sp>
      <p:sp>
        <p:nvSpPr>
          <p:cNvPr id="23" name="Oval 22"/>
          <p:cNvSpPr/>
          <p:nvPr/>
        </p:nvSpPr>
        <p:spPr>
          <a:xfrm>
            <a:off x="3657600" y="2752344"/>
            <a:ext cx="73152" cy="7315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94760" y="267919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微软雅黑"/>
                <a:ea typeface="微软雅黑"/>
              </a:rPr>
              <a:t>护理等级自动推荐</a:t>
            </a:r>
          </a:p>
        </p:txBody>
      </p:sp>
      <p:sp>
        <p:nvSpPr>
          <p:cNvPr id="25" name="Oval 24"/>
          <p:cNvSpPr/>
          <p:nvPr/>
        </p:nvSpPr>
        <p:spPr>
          <a:xfrm>
            <a:off x="3657600" y="3063240"/>
            <a:ext cx="73152" cy="7315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94760" y="299008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微软雅黑"/>
                <a:ea typeface="微软雅黑"/>
              </a:rPr>
              <a:t>合同与费用管理</a:t>
            </a:r>
          </a:p>
        </p:txBody>
      </p:sp>
      <p:sp>
        <p:nvSpPr>
          <p:cNvPr id="27" name="Oval 26"/>
          <p:cNvSpPr/>
          <p:nvPr/>
        </p:nvSpPr>
        <p:spPr>
          <a:xfrm>
            <a:off x="3657600" y="3374136"/>
            <a:ext cx="73152" cy="7315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94760" y="330098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微软雅黑"/>
                <a:ea typeface="微软雅黑"/>
              </a:rPr>
              <a:t>紧急联系人管理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1371600"/>
            <a:ext cx="265176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46520" y="1371600"/>
            <a:ext cx="2651760" cy="54864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🚪  退住管理</a:t>
            </a:r>
          </a:p>
        </p:txBody>
      </p:sp>
      <p:sp>
        <p:nvSpPr>
          <p:cNvPr id="31" name="Oval 30"/>
          <p:cNvSpPr/>
          <p:nvPr/>
        </p:nvSpPr>
        <p:spPr>
          <a:xfrm>
            <a:off x="6629400" y="2130552"/>
            <a:ext cx="73152" cy="7315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0" y="205740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微软雅黑"/>
                <a:ea typeface="微软雅黑"/>
              </a:rPr>
              <a:t>规范的退住审核流程</a:t>
            </a:r>
          </a:p>
        </p:txBody>
      </p:sp>
      <p:sp>
        <p:nvSpPr>
          <p:cNvPr id="33" name="Oval 32"/>
          <p:cNvSpPr/>
          <p:nvPr/>
        </p:nvSpPr>
        <p:spPr>
          <a:xfrm>
            <a:off x="6629400" y="2441448"/>
            <a:ext cx="73152" cy="7315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0" y="236829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微软雅黑"/>
                <a:ea typeface="微软雅黑"/>
              </a:rPr>
              <a:t>多种退住原因支持</a:t>
            </a:r>
          </a:p>
        </p:txBody>
      </p:sp>
      <p:sp>
        <p:nvSpPr>
          <p:cNvPr id="35" name="Oval 34"/>
          <p:cNvSpPr/>
          <p:nvPr/>
        </p:nvSpPr>
        <p:spPr>
          <a:xfrm>
            <a:off x="6629400" y="2752344"/>
            <a:ext cx="73152" cy="7315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66560" y="267919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微软雅黑"/>
                <a:ea typeface="微软雅黑"/>
              </a:rPr>
              <a:t>费用自动结算</a:t>
            </a:r>
          </a:p>
        </p:txBody>
      </p:sp>
      <p:sp>
        <p:nvSpPr>
          <p:cNvPr id="37" name="Oval 36"/>
          <p:cNvSpPr/>
          <p:nvPr/>
        </p:nvSpPr>
        <p:spPr>
          <a:xfrm>
            <a:off x="6629400" y="3063240"/>
            <a:ext cx="73152" cy="7315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66560" y="299008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微软雅黑"/>
                <a:ea typeface="微软雅黑"/>
              </a:rPr>
              <a:t>退款金额清晰透明</a:t>
            </a:r>
          </a:p>
        </p:txBody>
      </p:sp>
      <p:sp>
        <p:nvSpPr>
          <p:cNvPr id="39" name="Oval 38"/>
          <p:cNvSpPr/>
          <p:nvPr/>
        </p:nvSpPr>
        <p:spPr>
          <a:xfrm>
            <a:off x="6629400" y="3374136"/>
            <a:ext cx="73152" cy="7315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66560" y="330098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微软雅黑"/>
                <a:ea typeface="微软雅黑"/>
              </a:rPr>
              <a:t>完整记录便于追溯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66019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微软雅黑"/>
                <a:ea typeface="微软雅黑"/>
              </a:rPr>
              <a:t>中州养老智慧管理平台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0" y="66019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  <a:latin typeface="微软雅黑"/>
                <a:ea typeface="微软雅黑"/>
              </a:rPr>
              <a:t>第 8 页 / 共 20 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核心功能 - 养老护理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40233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4023360" cy="54864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💊  护理项目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130552"/>
            <a:ext cx="73152" cy="7315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微软雅黑"/>
                <a:ea typeface="微软雅黑"/>
              </a:rPr>
              <a:t>丰富的护理项目库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441448"/>
            <a:ext cx="73152" cy="7315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68296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微软雅黑"/>
                <a:ea typeface="微软雅黑"/>
              </a:rPr>
              <a:t>生活照料/基础护理/康复护理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752344"/>
            <a:ext cx="73152" cy="7315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67919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微软雅黑"/>
                <a:ea typeface="微软雅黑"/>
              </a:rPr>
              <a:t>价格与单位管理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063240"/>
            <a:ext cx="73152" cy="7315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990088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微软雅黑"/>
                <a:ea typeface="微软雅黑"/>
              </a:rPr>
              <a:t>护理要求详细说明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374136"/>
            <a:ext cx="73152" cy="7315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300984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微软雅黑"/>
                <a:ea typeface="微软雅黑"/>
              </a:rPr>
              <a:t>启用/禁用灵活调整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1371600"/>
            <a:ext cx="40233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1371600"/>
            <a:ext cx="4023360" cy="54864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📝  护理计划</a:t>
            </a:r>
          </a:p>
        </p:txBody>
      </p:sp>
      <p:sp>
        <p:nvSpPr>
          <p:cNvPr id="19" name="Oval 18"/>
          <p:cNvSpPr/>
          <p:nvPr/>
        </p:nvSpPr>
        <p:spPr>
          <a:xfrm>
            <a:off x="5212080" y="2130552"/>
            <a:ext cx="73152" cy="7315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49240" y="205740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微软雅黑"/>
                <a:ea typeface="微软雅黑"/>
              </a:rPr>
              <a:t>个性化护理计划制定</a:t>
            </a:r>
          </a:p>
        </p:txBody>
      </p:sp>
      <p:sp>
        <p:nvSpPr>
          <p:cNvPr id="21" name="Oval 20"/>
          <p:cNvSpPr/>
          <p:nvPr/>
        </p:nvSpPr>
        <p:spPr>
          <a:xfrm>
            <a:off x="5212080" y="2441448"/>
            <a:ext cx="73152" cy="7315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49240" y="2368296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微软雅黑"/>
                <a:ea typeface="微软雅黑"/>
              </a:rPr>
              <a:t>多项目组合配置</a:t>
            </a:r>
          </a:p>
        </p:txBody>
      </p:sp>
      <p:sp>
        <p:nvSpPr>
          <p:cNvPr id="23" name="Oval 22"/>
          <p:cNvSpPr/>
          <p:nvPr/>
        </p:nvSpPr>
        <p:spPr>
          <a:xfrm>
            <a:off x="5212080" y="2752344"/>
            <a:ext cx="73152" cy="7315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49240" y="267919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微软雅黑"/>
                <a:ea typeface="微软雅黑"/>
              </a:rPr>
              <a:t>执行频次与时间安排</a:t>
            </a:r>
          </a:p>
        </p:txBody>
      </p:sp>
      <p:sp>
        <p:nvSpPr>
          <p:cNvPr id="25" name="Oval 24"/>
          <p:cNvSpPr/>
          <p:nvPr/>
        </p:nvSpPr>
        <p:spPr>
          <a:xfrm>
            <a:off x="5212080" y="3063240"/>
            <a:ext cx="73152" cy="7315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49240" y="2990088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微软雅黑"/>
                <a:ea typeface="微软雅黑"/>
              </a:rPr>
              <a:t>版本管理与优化</a:t>
            </a:r>
          </a:p>
        </p:txBody>
      </p:sp>
      <p:sp>
        <p:nvSpPr>
          <p:cNvPr id="27" name="Oval 26"/>
          <p:cNvSpPr/>
          <p:nvPr/>
        </p:nvSpPr>
        <p:spPr>
          <a:xfrm>
            <a:off x="5212080" y="3374136"/>
            <a:ext cx="73152" cy="7315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49240" y="3300984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微软雅黑"/>
                <a:ea typeface="微软雅黑"/>
              </a:rPr>
              <a:t>执行跟踪与记录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474720"/>
            <a:ext cx="40233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3474720"/>
            <a:ext cx="4023360" cy="54864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⭐  护理等级</a:t>
            </a:r>
          </a:p>
        </p:txBody>
      </p:sp>
      <p:sp>
        <p:nvSpPr>
          <p:cNvPr id="31" name="Oval 30"/>
          <p:cNvSpPr/>
          <p:nvPr/>
        </p:nvSpPr>
        <p:spPr>
          <a:xfrm>
            <a:off x="640080" y="4233672"/>
            <a:ext cx="73152" cy="7315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416052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微软雅黑"/>
                <a:ea typeface="微软雅黑"/>
              </a:rPr>
              <a:t>科学的等级划分</a:t>
            </a:r>
          </a:p>
        </p:txBody>
      </p:sp>
      <p:sp>
        <p:nvSpPr>
          <p:cNvPr id="33" name="Oval 32"/>
          <p:cNvSpPr/>
          <p:nvPr/>
        </p:nvSpPr>
        <p:spPr>
          <a:xfrm>
            <a:off x="640080" y="4544568"/>
            <a:ext cx="73152" cy="7315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4471416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微软雅黑"/>
                <a:ea typeface="微软雅黑"/>
              </a:rPr>
              <a:t>自理/半自理/不能自理/特护</a:t>
            </a:r>
          </a:p>
        </p:txBody>
      </p:sp>
      <p:sp>
        <p:nvSpPr>
          <p:cNvPr id="35" name="Oval 34"/>
          <p:cNvSpPr/>
          <p:nvPr/>
        </p:nvSpPr>
        <p:spPr>
          <a:xfrm>
            <a:off x="640080" y="4855464"/>
            <a:ext cx="73152" cy="7315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478231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微软雅黑"/>
                <a:ea typeface="微软雅黑"/>
              </a:rPr>
              <a:t>分级护理费用标准</a:t>
            </a:r>
          </a:p>
        </p:txBody>
      </p:sp>
      <p:sp>
        <p:nvSpPr>
          <p:cNvPr id="37" name="Oval 36"/>
          <p:cNvSpPr/>
          <p:nvPr/>
        </p:nvSpPr>
        <p:spPr>
          <a:xfrm>
            <a:off x="640080" y="5166360"/>
            <a:ext cx="73152" cy="7315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5093208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微软雅黑"/>
                <a:ea typeface="微软雅黑"/>
              </a:rPr>
              <a:t>与护理计划关联</a:t>
            </a:r>
          </a:p>
        </p:txBody>
      </p:sp>
      <p:sp>
        <p:nvSpPr>
          <p:cNvPr id="39" name="Oval 38"/>
          <p:cNvSpPr/>
          <p:nvPr/>
        </p:nvSpPr>
        <p:spPr>
          <a:xfrm>
            <a:off x="640080" y="5477256"/>
            <a:ext cx="73152" cy="7315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5404104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微软雅黑"/>
                <a:ea typeface="微软雅黑"/>
              </a:rPr>
              <a:t>等级动态调整机制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0" y="3474720"/>
            <a:ext cx="40233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474720"/>
            <a:ext cx="4023360" cy="54864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👥  来访管理</a:t>
            </a:r>
          </a:p>
        </p:txBody>
      </p:sp>
      <p:sp>
        <p:nvSpPr>
          <p:cNvPr id="43" name="Oval 42"/>
          <p:cNvSpPr/>
          <p:nvPr/>
        </p:nvSpPr>
        <p:spPr>
          <a:xfrm>
            <a:off x="5212080" y="4233672"/>
            <a:ext cx="73152" cy="7315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49240" y="416052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微软雅黑"/>
                <a:ea typeface="微软雅黑"/>
              </a:rPr>
              <a:t>规范的访客登记</a:t>
            </a:r>
          </a:p>
        </p:txBody>
      </p:sp>
      <p:sp>
        <p:nvSpPr>
          <p:cNvPr id="45" name="Oval 44"/>
          <p:cNvSpPr/>
          <p:nvPr/>
        </p:nvSpPr>
        <p:spPr>
          <a:xfrm>
            <a:off x="5212080" y="4544568"/>
            <a:ext cx="73152" cy="7315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49240" y="4471416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微软雅黑"/>
                <a:ea typeface="微软雅黑"/>
              </a:rPr>
              <a:t>预约与审批流程</a:t>
            </a:r>
          </a:p>
        </p:txBody>
      </p:sp>
      <p:sp>
        <p:nvSpPr>
          <p:cNvPr id="47" name="Oval 46"/>
          <p:cNvSpPr/>
          <p:nvPr/>
        </p:nvSpPr>
        <p:spPr>
          <a:xfrm>
            <a:off x="5212080" y="4855464"/>
            <a:ext cx="73152" cy="7315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49240" y="478231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微软雅黑"/>
                <a:ea typeface="微软雅黑"/>
              </a:rPr>
              <a:t>签到/签退登记</a:t>
            </a:r>
          </a:p>
        </p:txBody>
      </p:sp>
      <p:sp>
        <p:nvSpPr>
          <p:cNvPr id="49" name="Oval 48"/>
          <p:cNvSpPr/>
          <p:nvPr/>
        </p:nvSpPr>
        <p:spPr>
          <a:xfrm>
            <a:off x="5212080" y="5166360"/>
            <a:ext cx="73152" cy="7315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49240" y="5093208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微软雅黑"/>
                <a:ea typeface="微软雅黑"/>
              </a:rPr>
              <a:t>访客信息完整记录</a:t>
            </a:r>
          </a:p>
        </p:txBody>
      </p:sp>
      <p:sp>
        <p:nvSpPr>
          <p:cNvPr id="51" name="Oval 50"/>
          <p:cNvSpPr/>
          <p:nvPr/>
        </p:nvSpPr>
        <p:spPr>
          <a:xfrm>
            <a:off x="5212080" y="5477256"/>
            <a:ext cx="73152" cy="7315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49240" y="5404104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微软雅黑"/>
                <a:ea typeface="微软雅黑"/>
              </a:rPr>
              <a:t>来访数据统计分析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4320" y="66019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微软雅黑"/>
                <a:ea typeface="微软雅黑"/>
              </a:rPr>
              <a:t>中州养老智慧管理平台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0" y="66019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  <a:latin typeface="微软雅黑"/>
                <a:ea typeface="微软雅黑"/>
              </a:rPr>
              <a:t>第 9 页 / 共 20 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核心功能 - AI咨询 &amp; 系统管理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73152" cy="3200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366"/>
                </a:solidFill>
                <a:latin typeface="微软雅黑"/>
                <a:ea typeface="微软雅黑"/>
              </a:rPr>
              <a:t>【小智健康助手】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874520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基于大语言模型的智能健康咨询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221992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7×24小时全天候在线服务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569464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7802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SSE流式响应，交互体验流畅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916936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82549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支持多轮对话，上下文理解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64408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1729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持续学习优化，回答质量不断提升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57600"/>
            <a:ext cx="73152" cy="3200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63931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366"/>
                </a:solidFill>
                <a:latin typeface="微软雅黑"/>
                <a:ea typeface="微软雅黑"/>
              </a:rPr>
              <a:t>【应用场景】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4160520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0690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老人及家属日常健康咨询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4507992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4165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护理人员专业知识查询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" y="4855464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6402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常见健康问题自助解答</a:t>
            </a:r>
          </a:p>
        </p:txBody>
      </p:sp>
      <p:sp>
        <p:nvSpPr>
          <p:cNvPr id="25" name="Oval 24"/>
          <p:cNvSpPr/>
          <p:nvPr/>
        </p:nvSpPr>
        <p:spPr>
          <a:xfrm>
            <a:off x="731520" y="5202936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11149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健康科普与知识普及</a:t>
            </a:r>
          </a:p>
        </p:txBody>
      </p:sp>
      <p:sp>
        <p:nvSpPr>
          <p:cNvPr id="27" name="Oval 26"/>
          <p:cNvSpPr/>
          <p:nvPr/>
        </p:nvSpPr>
        <p:spPr>
          <a:xfrm>
            <a:off x="731520" y="5550408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4589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用药指导与饮食建议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1371600"/>
            <a:ext cx="18288" cy="475488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846320" y="1371600"/>
            <a:ext cx="73152" cy="3200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0" y="135331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366"/>
                </a:solidFill>
                <a:latin typeface="微软雅黑"/>
                <a:ea typeface="微软雅黑"/>
              </a:rPr>
              <a:t>【系统管理】</a:t>
            </a:r>
          </a:p>
        </p:txBody>
      </p:sp>
      <p:sp>
        <p:nvSpPr>
          <p:cNvPr id="32" name="Oval 31"/>
          <p:cNvSpPr/>
          <p:nvPr/>
        </p:nvSpPr>
        <p:spPr>
          <a:xfrm>
            <a:off x="5029200" y="1874520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80" y="17830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用户管理：完整的账号管理体系</a:t>
            </a:r>
          </a:p>
        </p:txBody>
      </p:sp>
      <p:sp>
        <p:nvSpPr>
          <p:cNvPr id="34" name="Oval 33"/>
          <p:cNvSpPr/>
          <p:nvPr/>
        </p:nvSpPr>
        <p:spPr>
          <a:xfrm>
            <a:off x="5029200" y="2221992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12080" y="21305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角色管理：灵活的角色权限配置</a:t>
            </a:r>
          </a:p>
        </p:txBody>
      </p:sp>
      <p:sp>
        <p:nvSpPr>
          <p:cNvPr id="36" name="Oval 35"/>
          <p:cNvSpPr/>
          <p:nvPr/>
        </p:nvSpPr>
        <p:spPr>
          <a:xfrm>
            <a:off x="5029200" y="2569464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12080" y="247802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菜单管理：树形结构，动态路由</a:t>
            </a:r>
          </a:p>
        </p:txBody>
      </p:sp>
      <p:sp>
        <p:nvSpPr>
          <p:cNvPr id="38" name="Oval 37"/>
          <p:cNvSpPr/>
          <p:nvPr/>
        </p:nvSpPr>
        <p:spPr>
          <a:xfrm>
            <a:off x="5029200" y="2916936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12080" y="282549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部门管理：多级组织架构</a:t>
            </a:r>
          </a:p>
        </p:txBody>
      </p:sp>
      <p:sp>
        <p:nvSpPr>
          <p:cNvPr id="40" name="Oval 39"/>
          <p:cNvSpPr/>
          <p:nvPr/>
        </p:nvSpPr>
        <p:spPr>
          <a:xfrm>
            <a:off x="5029200" y="3264408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12080" y="31729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字典管理：系统数据字典维护</a:t>
            </a:r>
          </a:p>
        </p:txBody>
      </p:sp>
      <p:sp>
        <p:nvSpPr>
          <p:cNvPr id="42" name="Oval 41"/>
          <p:cNvSpPr/>
          <p:nvPr/>
        </p:nvSpPr>
        <p:spPr>
          <a:xfrm>
            <a:off x="5029200" y="3611880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12080" y="35204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参数管理：系统参数配置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46320" y="4005072"/>
            <a:ext cx="73152" cy="3200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0" y="3986784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366"/>
                </a:solidFill>
                <a:latin typeface="微软雅黑"/>
                <a:ea typeface="微软雅黑"/>
              </a:rPr>
              <a:t>【系统监控】</a:t>
            </a:r>
          </a:p>
        </p:txBody>
      </p:sp>
      <p:sp>
        <p:nvSpPr>
          <p:cNvPr id="46" name="Oval 45"/>
          <p:cNvSpPr/>
          <p:nvPr/>
        </p:nvSpPr>
        <p:spPr>
          <a:xfrm>
            <a:off x="5029200" y="4507992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12080" y="44165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在线用户：实时监控在线状态</a:t>
            </a:r>
          </a:p>
        </p:txBody>
      </p:sp>
      <p:sp>
        <p:nvSpPr>
          <p:cNvPr id="48" name="Oval 47"/>
          <p:cNvSpPr/>
          <p:nvPr/>
        </p:nvSpPr>
        <p:spPr>
          <a:xfrm>
            <a:off x="5029200" y="4855464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212080" y="476402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操作日志：完整操作审计记录</a:t>
            </a:r>
          </a:p>
        </p:txBody>
      </p:sp>
      <p:sp>
        <p:nvSpPr>
          <p:cNvPr id="50" name="Oval 49"/>
          <p:cNvSpPr/>
          <p:nvPr/>
        </p:nvSpPr>
        <p:spPr>
          <a:xfrm>
            <a:off x="5029200" y="5202936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12080" y="511149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登录日志：登录行为追踪</a:t>
            </a:r>
          </a:p>
        </p:txBody>
      </p:sp>
      <p:sp>
        <p:nvSpPr>
          <p:cNvPr id="52" name="Oval 51"/>
          <p:cNvSpPr/>
          <p:nvPr/>
        </p:nvSpPr>
        <p:spPr>
          <a:xfrm>
            <a:off x="5029200" y="5550408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12080" y="54589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服务监控：服务器性能指标</a:t>
            </a:r>
          </a:p>
        </p:txBody>
      </p:sp>
      <p:sp>
        <p:nvSpPr>
          <p:cNvPr id="54" name="Oval 53"/>
          <p:cNvSpPr/>
          <p:nvPr/>
        </p:nvSpPr>
        <p:spPr>
          <a:xfrm>
            <a:off x="5029200" y="5897880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212080" y="58064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缓存监控：Redis缓存状态</a:t>
            </a:r>
          </a:p>
        </p:txBody>
      </p:sp>
      <p:sp>
        <p:nvSpPr>
          <p:cNvPr id="56" name="Oval 55"/>
          <p:cNvSpPr/>
          <p:nvPr/>
        </p:nvSpPr>
        <p:spPr>
          <a:xfrm>
            <a:off x="5029200" y="6245352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212080" y="61539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Druid监控：数据库连接池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4320" y="66019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微软雅黑"/>
                <a:ea typeface="微软雅黑"/>
              </a:rPr>
              <a:t>中州养老智慧管理平台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0" y="66019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  <a:latin typeface="微软雅黑"/>
                <a:ea typeface="微软雅黑"/>
              </a:rPr>
              <a:t>第 10 页 / 共 20 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71600" y="1371600"/>
            <a:ext cx="1828800" cy="18288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200" b="1">
                <a:solidFill>
                  <a:srgbClr val="003366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0" y="16459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技术亮点与创新点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2651760"/>
            <a:ext cx="1371600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0" y="28346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CFF"/>
                </a:solidFill>
                <a:latin typeface="微软雅黑"/>
                <a:ea typeface="微软雅黑"/>
              </a:rPr>
              <a:t>Technical Highlights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技术亮点与创新点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40233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4023360" cy="54864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🔧  前后端分离架构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130552"/>
            <a:ext cx="73152" cy="7315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微软雅黑"/>
                <a:ea typeface="微软雅黑"/>
              </a:rPr>
              <a:t>前后端独立开发部署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441448"/>
            <a:ext cx="73152" cy="7315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68296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微软雅黑"/>
                <a:ea typeface="微软雅黑"/>
              </a:rPr>
              <a:t>RESTful API规范设计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752344"/>
            <a:ext cx="73152" cy="7315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67919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微软雅黑"/>
                <a:ea typeface="微软雅黑"/>
              </a:rPr>
              <a:t>多端适配，一次开发多端运行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063240"/>
            <a:ext cx="73152" cy="7315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990088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微软雅黑"/>
                <a:ea typeface="微软雅黑"/>
              </a:rPr>
              <a:t>团队并行开发，效率提升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374136"/>
            <a:ext cx="73152" cy="7315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300984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微软雅黑"/>
                <a:ea typeface="微软雅黑"/>
              </a:rPr>
              <a:t>便于后续扩展和维护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1371600"/>
            <a:ext cx="40233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1371600"/>
            <a:ext cx="4023360" cy="54864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🔐  智能权限控制</a:t>
            </a:r>
          </a:p>
        </p:txBody>
      </p:sp>
      <p:sp>
        <p:nvSpPr>
          <p:cNvPr id="19" name="Oval 18"/>
          <p:cNvSpPr/>
          <p:nvPr/>
        </p:nvSpPr>
        <p:spPr>
          <a:xfrm>
            <a:off x="5212080" y="2130552"/>
            <a:ext cx="73152" cy="7315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49240" y="205740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微软雅黑"/>
                <a:ea typeface="微软雅黑"/>
              </a:rPr>
              <a:t>RBAC基于角色的访问控制</a:t>
            </a:r>
          </a:p>
        </p:txBody>
      </p:sp>
      <p:sp>
        <p:nvSpPr>
          <p:cNvPr id="21" name="Oval 20"/>
          <p:cNvSpPr/>
          <p:nvPr/>
        </p:nvSpPr>
        <p:spPr>
          <a:xfrm>
            <a:off x="5212080" y="2441448"/>
            <a:ext cx="73152" cy="7315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49240" y="2368296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微软雅黑"/>
                <a:ea typeface="微软雅黑"/>
              </a:rPr>
              <a:t>按钮级细粒度权限控制</a:t>
            </a:r>
          </a:p>
        </p:txBody>
      </p:sp>
      <p:sp>
        <p:nvSpPr>
          <p:cNvPr id="23" name="Oval 22"/>
          <p:cNvSpPr/>
          <p:nvPr/>
        </p:nvSpPr>
        <p:spPr>
          <a:xfrm>
            <a:off x="5212080" y="2752344"/>
            <a:ext cx="73152" cy="7315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49240" y="267919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微软雅黑"/>
                <a:ea typeface="微软雅黑"/>
              </a:rPr>
              <a:t>动态菜单路由加载</a:t>
            </a:r>
          </a:p>
        </p:txBody>
      </p:sp>
      <p:sp>
        <p:nvSpPr>
          <p:cNvPr id="25" name="Oval 24"/>
          <p:cNvSpPr/>
          <p:nvPr/>
        </p:nvSpPr>
        <p:spPr>
          <a:xfrm>
            <a:off x="5212080" y="3063240"/>
            <a:ext cx="73152" cy="7315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49240" y="2990088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微软雅黑"/>
                <a:ea typeface="微软雅黑"/>
              </a:rPr>
              <a:t>数据权限隔离机制</a:t>
            </a:r>
          </a:p>
        </p:txBody>
      </p:sp>
      <p:sp>
        <p:nvSpPr>
          <p:cNvPr id="27" name="Oval 26"/>
          <p:cNvSpPr/>
          <p:nvPr/>
        </p:nvSpPr>
        <p:spPr>
          <a:xfrm>
            <a:off x="5212080" y="3374136"/>
            <a:ext cx="73152" cy="7315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49240" y="3300984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微软雅黑"/>
                <a:ea typeface="微软雅黑"/>
              </a:rPr>
              <a:t>多角色灵活组合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474720"/>
            <a:ext cx="40233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3474720"/>
            <a:ext cx="4023360" cy="54864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🤖  AI能力深度赋能</a:t>
            </a:r>
          </a:p>
        </p:txBody>
      </p:sp>
      <p:sp>
        <p:nvSpPr>
          <p:cNvPr id="31" name="Oval 30"/>
          <p:cNvSpPr/>
          <p:nvPr/>
        </p:nvSpPr>
        <p:spPr>
          <a:xfrm>
            <a:off x="640080" y="4233672"/>
            <a:ext cx="73152" cy="7315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416052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微软雅黑"/>
                <a:ea typeface="微软雅黑"/>
              </a:rPr>
              <a:t>大语言模型融入养老服务</a:t>
            </a:r>
          </a:p>
        </p:txBody>
      </p:sp>
      <p:sp>
        <p:nvSpPr>
          <p:cNvPr id="33" name="Oval 32"/>
          <p:cNvSpPr/>
          <p:nvPr/>
        </p:nvSpPr>
        <p:spPr>
          <a:xfrm>
            <a:off x="640080" y="4544568"/>
            <a:ext cx="73152" cy="7315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4471416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微软雅黑"/>
                <a:ea typeface="微软雅黑"/>
              </a:rPr>
              <a:t>SSE流式响应输出</a:t>
            </a:r>
          </a:p>
        </p:txBody>
      </p:sp>
      <p:sp>
        <p:nvSpPr>
          <p:cNvPr id="35" name="Oval 34"/>
          <p:cNvSpPr/>
          <p:nvPr/>
        </p:nvSpPr>
        <p:spPr>
          <a:xfrm>
            <a:off x="640080" y="4855464"/>
            <a:ext cx="73152" cy="7315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478231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微软雅黑"/>
                <a:ea typeface="微软雅黑"/>
              </a:rPr>
              <a:t>智能健康问答交互</a:t>
            </a:r>
          </a:p>
        </p:txBody>
      </p:sp>
      <p:sp>
        <p:nvSpPr>
          <p:cNvPr id="37" name="Oval 36"/>
          <p:cNvSpPr/>
          <p:nvPr/>
        </p:nvSpPr>
        <p:spPr>
          <a:xfrm>
            <a:off x="640080" y="5166360"/>
            <a:ext cx="73152" cy="7315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5093208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微软雅黑"/>
                <a:ea typeface="微软雅黑"/>
              </a:rPr>
              <a:t>持续学习迭代优化</a:t>
            </a:r>
          </a:p>
        </p:txBody>
      </p:sp>
      <p:sp>
        <p:nvSpPr>
          <p:cNvPr id="39" name="Oval 38"/>
          <p:cNvSpPr/>
          <p:nvPr/>
        </p:nvSpPr>
        <p:spPr>
          <a:xfrm>
            <a:off x="640080" y="5477256"/>
            <a:ext cx="73152" cy="7315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5404104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微软雅黑"/>
                <a:ea typeface="微软雅黑"/>
              </a:rPr>
              <a:t>提升服务效率与质量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0" y="3474720"/>
            <a:ext cx="40233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474720"/>
            <a:ext cx="4023360" cy="54864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⚡  高可用系统设计</a:t>
            </a:r>
          </a:p>
        </p:txBody>
      </p:sp>
      <p:sp>
        <p:nvSpPr>
          <p:cNvPr id="43" name="Oval 42"/>
          <p:cNvSpPr/>
          <p:nvPr/>
        </p:nvSpPr>
        <p:spPr>
          <a:xfrm>
            <a:off x="5212080" y="4233672"/>
            <a:ext cx="73152" cy="7315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49240" y="416052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微软雅黑"/>
                <a:ea typeface="微软雅黑"/>
              </a:rPr>
              <a:t>数据库连接池优化</a:t>
            </a:r>
          </a:p>
        </p:txBody>
      </p:sp>
      <p:sp>
        <p:nvSpPr>
          <p:cNvPr id="45" name="Oval 44"/>
          <p:cNvSpPr/>
          <p:nvPr/>
        </p:nvSpPr>
        <p:spPr>
          <a:xfrm>
            <a:off x="5212080" y="4544568"/>
            <a:ext cx="73152" cy="7315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49240" y="4471416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微软雅黑"/>
                <a:ea typeface="微软雅黑"/>
              </a:rPr>
              <a:t>Redis缓存加速</a:t>
            </a:r>
          </a:p>
        </p:txBody>
      </p:sp>
      <p:sp>
        <p:nvSpPr>
          <p:cNvPr id="47" name="Oval 46"/>
          <p:cNvSpPr/>
          <p:nvPr/>
        </p:nvSpPr>
        <p:spPr>
          <a:xfrm>
            <a:off x="5212080" y="4855464"/>
            <a:ext cx="73152" cy="7315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49240" y="478231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微软雅黑"/>
                <a:ea typeface="微软雅黑"/>
              </a:rPr>
              <a:t>请求超时防阻塞机制</a:t>
            </a:r>
          </a:p>
        </p:txBody>
      </p:sp>
      <p:sp>
        <p:nvSpPr>
          <p:cNvPr id="49" name="Oval 48"/>
          <p:cNvSpPr/>
          <p:nvPr/>
        </p:nvSpPr>
        <p:spPr>
          <a:xfrm>
            <a:off x="5212080" y="5166360"/>
            <a:ext cx="73152" cy="7315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49240" y="5093208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微软雅黑"/>
                <a:ea typeface="微软雅黑"/>
              </a:rPr>
              <a:t>完善的日志体系</a:t>
            </a:r>
          </a:p>
        </p:txBody>
      </p:sp>
      <p:sp>
        <p:nvSpPr>
          <p:cNvPr id="51" name="Oval 50"/>
          <p:cNvSpPr/>
          <p:nvPr/>
        </p:nvSpPr>
        <p:spPr>
          <a:xfrm>
            <a:off x="5212080" y="5477256"/>
            <a:ext cx="73152" cy="7315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49240" y="5404104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微软雅黑"/>
                <a:ea typeface="微软雅黑"/>
              </a:rPr>
              <a:t>服务降级与熔断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4320" y="66019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微软雅黑"/>
                <a:ea typeface="微软雅黑"/>
              </a:rPr>
              <a:t>中州养老智慧管理平台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0" y="66019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  <a:latin typeface="微软雅黑"/>
                <a:ea typeface="微软雅黑"/>
              </a:rPr>
              <a:t>第 12 页 / 共 20 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71600" y="1371600"/>
            <a:ext cx="1828800" cy="18288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200" b="1">
                <a:solidFill>
                  <a:srgbClr val="003366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0" y="16459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系统安全保障体系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2651760"/>
            <a:ext cx="1371600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0" y="28346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CFF"/>
                </a:solidFill>
                <a:latin typeface="微软雅黑"/>
                <a:ea typeface="微软雅黑"/>
              </a:rPr>
              <a:t>Security System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系统安全保障体系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73152" cy="3200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366"/>
                </a:solidFill>
                <a:latin typeface="微软雅黑"/>
                <a:ea typeface="微软雅黑"/>
              </a:rPr>
              <a:t>【数据安全】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874520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密码BCrypt加密存储，不可逆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221992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HTTPS传输加密，防窃听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569464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7802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数据库定期备份与恢复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916936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82549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细粒度权限控制，防越权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64408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1729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敏感数据脱敏展示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57600"/>
            <a:ext cx="73152" cy="3200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63931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366"/>
                </a:solidFill>
                <a:latin typeface="微软雅黑"/>
                <a:ea typeface="微软雅黑"/>
              </a:rPr>
              <a:t>【网络安全】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4160520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0690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防火墙边界防护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4507992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4165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IP黑白名单访问控制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" y="4855464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6402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防SQL注入攻击</a:t>
            </a:r>
          </a:p>
        </p:txBody>
      </p:sp>
      <p:sp>
        <p:nvSpPr>
          <p:cNvPr id="25" name="Oval 24"/>
          <p:cNvSpPr/>
          <p:nvPr/>
        </p:nvSpPr>
        <p:spPr>
          <a:xfrm>
            <a:off x="731520" y="5202936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11149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防XSS跨站脚本攻击</a:t>
            </a:r>
          </a:p>
        </p:txBody>
      </p:sp>
      <p:sp>
        <p:nvSpPr>
          <p:cNvPr id="27" name="Oval 26"/>
          <p:cNvSpPr/>
          <p:nvPr/>
        </p:nvSpPr>
        <p:spPr>
          <a:xfrm>
            <a:off x="731520" y="5550408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4589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CSRF跨站请求防护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1371600"/>
            <a:ext cx="18288" cy="475488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846320" y="1371600"/>
            <a:ext cx="73152" cy="3200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0" y="135331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366"/>
                </a:solidFill>
                <a:latin typeface="微软雅黑"/>
                <a:ea typeface="微软雅黑"/>
              </a:rPr>
              <a:t>【应用安全】</a:t>
            </a:r>
          </a:p>
        </p:txBody>
      </p:sp>
      <p:sp>
        <p:nvSpPr>
          <p:cNvPr id="32" name="Oval 31"/>
          <p:cNvSpPr/>
          <p:nvPr/>
        </p:nvSpPr>
        <p:spPr>
          <a:xfrm>
            <a:off x="5029200" y="1874520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80" y="17830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双因子认证（密码+验证码）</a:t>
            </a:r>
          </a:p>
        </p:txBody>
      </p:sp>
      <p:sp>
        <p:nvSpPr>
          <p:cNvPr id="34" name="Oval 33"/>
          <p:cNvSpPr/>
          <p:nvPr/>
        </p:nvSpPr>
        <p:spPr>
          <a:xfrm>
            <a:off x="5029200" y="2221992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12080" y="21305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Token会话机制，自动失效</a:t>
            </a:r>
          </a:p>
        </p:txBody>
      </p:sp>
      <p:sp>
        <p:nvSpPr>
          <p:cNvPr id="36" name="Oval 35"/>
          <p:cNvSpPr/>
          <p:nvPr/>
        </p:nvSpPr>
        <p:spPr>
          <a:xfrm>
            <a:off x="5029200" y="2569464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12080" y="247802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操作审计，全流程留痕</a:t>
            </a:r>
          </a:p>
        </p:txBody>
      </p:sp>
      <p:sp>
        <p:nvSpPr>
          <p:cNvPr id="38" name="Oval 37"/>
          <p:cNvSpPr/>
          <p:nvPr/>
        </p:nvSpPr>
        <p:spPr>
          <a:xfrm>
            <a:off x="5029200" y="2916936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12080" y="282549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接口签名与防重放</a:t>
            </a:r>
          </a:p>
        </p:txBody>
      </p:sp>
      <p:sp>
        <p:nvSpPr>
          <p:cNvPr id="40" name="Oval 39"/>
          <p:cNvSpPr/>
          <p:nvPr/>
        </p:nvSpPr>
        <p:spPr>
          <a:xfrm>
            <a:off x="5029200" y="3264408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12080" y="31729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文件上传安全检测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46320" y="3657600"/>
            <a:ext cx="73152" cy="3200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0" y="363931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366"/>
                </a:solidFill>
                <a:latin typeface="微软雅黑"/>
                <a:ea typeface="微软雅黑"/>
              </a:rPr>
              <a:t>【运维安全】</a:t>
            </a:r>
          </a:p>
        </p:txBody>
      </p:sp>
      <p:sp>
        <p:nvSpPr>
          <p:cNvPr id="44" name="Oval 43"/>
          <p:cNvSpPr/>
          <p:nvPr/>
        </p:nvSpPr>
        <p:spPr>
          <a:xfrm>
            <a:off x="5029200" y="4160520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12080" y="40690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完整的日志监控体系</a:t>
            </a:r>
          </a:p>
        </p:txBody>
      </p:sp>
      <p:sp>
        <p:nvSpPr>
          <p:cNvPr id="46" name="Oval 45"/>
          <p:cNvSpPr/>
          <p:nvPr/>
        </p:nvSpPr>
        <p:spPr>
          <a:xfrm>
            <a:off x="5029200" y="4507992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12080" y="44165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异常实时告警通知</a:t>
            </a:r>
          </a:p>
        </p:txBody>
      </p:sp>
      <p:sp>
        <p:nvSpPr>
          <p:cNvPr id="48" name="Oval 47"/>
          <p:cNvSpPr/>
          <p:nvPr/>
        </p:nvSpPr>
        <p:spPr>
          <a:xfrm>
            <a:off x="5029200" y="4855464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212080" y="476402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代码版本管理与回滚</a:t>
            </a:r>
          </a:p>
        </p:txBody>
      </p:sp>
      <p:sp>
        <p:nvSpPr>
          <p:cNvPr id="50" name="Oval 49"/>
          <p:cNvSpPr/>
          <p:nvPr/>
        </p:nvSpPr>
        <p:spPr>
          <a:xfrm>
            <a:off x="5029200" y="5202936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12080" y="511149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灾备方案与演练</a:t>
            </a:r>
          </a:p>
        </p:txBody>
      </p:sp>
      <p:sp>
        <p:nvSpPr>
          <p:cNvPr id="52" name="Oval 51"/>
          <p:cNvSpPr/>
          <p:nvPr/>
        </p:nvSpPr>
        <p:spPr>
          <a:xfrm>
            <a:off x="5029200" y="5550408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12080" y="54589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安全扫描与渗透测试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66019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微软雅黑"/>
                <a:ea typeface="微软雅黑"/>
              </a:rPr>
              <a:t>中州养老智慧管理平台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0" y="66019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  <a:latin typeface="微软雅黑"/>
                <a:ea typeface="微软雅黑"/>
              </a:rPr>
              <a:t>第 14 页 / 共 20 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71600" y="1371600"/>
            <a:ext cx="1828800" cy="18288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200" b="1">
                <a:solidFill>
                  <a:srgbClr val="003366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0" y="16459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项目实施与团队分工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2651760"/>
            <a:ext cx="1371600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0" y="28346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CFF"/>
                </a:solidFill>
                <a:latin typeface="微软雅黑"/>
                <a:ea typeface="微软雅黑"/>
              </a:rPr>
              <a:t>Team &amp; Division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项目团队分工表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371600"/>
          <a:ext cx="841248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914400"/>
                <a:gridCol w="1463040"/>
                <a:gridCol w="3200400"/>
                <a:gridCol w="228600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序号</a:t>
                      </a:r>
                    </a:p>
                  </a:txBody>
                  <a:tcPr anchor="ctr"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姓名</a:t>
                      </a:r>
                    </a:p>
                  </a:txBody>
                  <a:tcPr anchor="ctr"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角色</a:t>
                      </a:r>
                    </a:p>
                  </a:txBody>
                  <a:tcPr anchor="ctr"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主要职责</a:t>
                      </a:r>
                    </a:p>
                  </a:txBody>
                  <a:tcPr anchor="ctr"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负责模块</a:t>
                      </a:r>
                    </a:p>
                  </a:txBody>
                  <a:tcPr anchor="ctr">
                    <a:solidFill>
                      <a:srgbClr val="0050A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缪鹏炫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项目经理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项目整体规划、进度管控、质量把控、团队协调、客户沟通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全项目统筹管理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陈冉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后端开发工程师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后端架构设计、核心业务开发、接口设计、数据库设计、性能优化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入退管理模块、养老护理模块、系统管理模块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邓心童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前端开发工程师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前端架构设计、页面开发、交互设计、前端性能优化、用户体验提升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入退管理页面、养老护理页面、AI咨询页面、系统管理页面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方晨晨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测试工程师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测试计划制定、测试用例编写、功能测试、性能测试、Bug跟踪、质量保证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全模块测试、集成测试、系统测试、验收测试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李子霄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数据库工程师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数据库设计、SQL优化、数据迁移、数据备份、数据安全、性能调优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数据库架构设计、表结构设计、索引优化、数据备份恢复</a:t>
                      </a:r>
                    </a:p>
                  </a:txBody>
                  <a:tcPr anchor="ctr">
                    <a:solidFill>
                      <a:srgbClr val="F0F5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李智庆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运维工程师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系统部署、环境搭建、服务器管理、网络配置、安全加固、监控告警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服务器运维、系统部署、安全配置、监控系统、故障排查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微软雅黑"/>
                <a:ea typeface="微软雅黑"/>
              </a:rPr>
              <a:t>中州养老智慧管理平台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6019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  <a:latin typeface="微软雅黑"/>
                <a:ea typeface="微软雅黑"/>
              </a:rPr>
              <a:t>第 16 页 / 共 20 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团队成员详细分工（一）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371600"/>
            <a:ext cx="1005840" cy="1005840"/>
          </a:xfrm>
          <a:prstGeom prst="ellipse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鹏炫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417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3366"/>
                </a:solidFill>
                <a:latin typeface="微软雅黑"/>
                <a:ea typeface="微软雅黑"/>
              </a:rPr>
              <a:t>缪鹏炫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4447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8C00"/>
                </a:solidFill>
                <a:latin typeface="微软雅黑"/>
                <a:ea typeface="微软雅黑"/>
              </a:rPr>
              <a:t>项目经理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78308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05050"/>
                </a:solidFill>
                <a:latin typeface="微软雅黑"/>
                <a:ea typeface="微软雅黑"/>
              </a:rPr>
              <a:t>主要职责：负责项目整体规划和里程碑制定，确保项目按计划推进；协调各方资源，解决项目推进中的重大问题；负责与客户的沟通对接，准确把握需求方向；把控项目质量和进度，定期向客户汇报项目进展；组织项目评审和验收，确保交付成果符合要求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05050"/>
                </a:solidFill>
                <a:latin typeface="微软雅黑"/>
                <a:ea typeface="微软雅黑"/>
              </a:rPr>
              <a:t>负责模块：项目启动与规划、需求管理与范围控制、进度与质量管理、风险管理、团队管理、客户关系维护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2514600"/>
            <a:ext cx="7132320" cy="9144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2651760"/>
            <a:ext cx="1005840" cy="1005840"/>
          </a:xfrm>
          <a:prstGeom prst="ellipse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陈冉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697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3366"/>
                </a:solidFill>
                <a:latin typeface="微软雅黑"/>
                <a:ea typeface="微软雅黑"/>
              </a:rPr>
              <a:t>陈冉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7249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8C00"/>
                </a:solidFill>
                <a:latin typeface="微软雅黑"/>
                <a:ea typeface="微软雅黑"/>
              </a:rPr>
              <a:t>后端开发工程师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06324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05050"/>
                </a:solidFill>
                <a:latin typeface="微软雅黑"/>
                <a:ea typeface="微软雅黑"/>
              </a:rPr>
              <a:t>主要职责：负责后端系统的整体架构设计和技术选型；承担入退管理模块（健康评估、入住办理、退住管理）的后端开发工作；负责养老护理模块（护理项目、护理计划、护理等级、来访管理）的后端开发；设计数据库表结构和接口规范，确保代码质量和可维护性；进行后端性能优化，保障系统稳定高效运行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38328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05050"/>
                </a:solidFill>
                <a:latin typeface="微软雅黑"/>
                <a:ea typeface="微软雅黑"/>
              </a:rPr>
              <a:t>负责模块：系统架构设计、核心业务开发、接口设计规范、数据库设计、性能优化、代码审查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6019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微软雅黑"/>
                <a:ea typeface="微软雅黑"/>
              </a:rPr>
              <a:t>中州养老智慧管理平台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6019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  <a:latin typeface="微软雅黑"/>
                <a:ea typeface="微软雅黑"/>
              </a:rPr>
              <a:t>第 17 页 / 共 20 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团队成员详细分工（二）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371600"/>
            <a:ext cx="1005840" cy="1005840"/>
          </a:xfrm>
          <a:prstGeom prst="ellipse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心童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417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3366"/>
                </a:solidFill>
                <a:latin typeface="微软雅黑"/>
                <a:ea typeface="微软雅黑"/>
              </a:rPr>
              <a:t>邓心童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4447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8C00"/>
                </a:solidFill>
                <a:latin typeface="微软雅黑"/>
                <a:ea typeface="微软雅黑"/>
              </a:rPr>
              <a:t>前端开发工程师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78308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05050"/>
                </a:solidFill>
                <a:latin typeface="微软雅黑"/>
                <a:ea typeface="微软雅黑"/>
              </a:rPr>
              <a:t>主要职责：负责前端页面的整体设计和开发实现；完成入退管理模块（健康评估、入住办理、退住管理）的前端页面开发；完成养老护理模块（护理项目、护理计划、护理等级、来访管理）的前端页面开发；负责AI智能咨询（小智健康）页面的开发和交互优化；进行前端性能优化，提升用户体验和页面响应速度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05050"/>
                </a:solidFill>
                <a:latin typeface="微软雅黑"/>
                <a:ea typeface="微软雅黑"/>
              </a:rPr>
              <a:t>负责模块：前端架构设计、页面组件开发、交互体验优化、前端性能调优、响应式适配、联调测试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2514600"/>
            <a:ext cx="7132320" cy="9144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2651760"/>
            <a:ext cx="1005840" cy="1005840"/>
          </a:xfrm>
          <a:prstGeom prst="ellipse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晨晨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697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3366"/>
                </a:solidFill>
                <a:latin typeface="微软雅黑"/>
                <a:ea typeface="微软雅黑"/>
              </a:rPr>
              <a:t>方晨晨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7249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8C00"/>
                </a:solidFill>
                <a:latin typeface="微软雅黑"/>
                <a:ea typeface="微软雅黑"/>
              </a:rPr>
              <a:t>测试工程师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06324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05050"/>
                </a:solidFill>
                <a:latin typeface="微软雅黑"/>
                <a:ea typeface="微软雅黑"/>
              </a:rPr>
              <a:t>主要职责：制定测试计划和测试方案，设计测试用例；对系统各模块进行全面的功能测试，确保功能符合需求；进行性能测试、压力测试，验证系统的性能指标；跟踪和管理Bug，推动问题及时修复；参与需求评审和代码评审，从测试角度提出改进建议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38328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05050"/>
                </a:solidFill>
                <a:latin typeface="微软雅黑"/>
                <a:ea typeface="微软雅黑"/>
              </a:rPr>
              <a:t>负责模块：测试计划制定、用例设计编写、功能测试、性能测试、Bug管理、质量保证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6019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微软雅黑"/>
                <a:ea typeface="微软雅黑"/>
              </a:rPr>
              <a:t>中州养老智慧管理平台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6019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  <a:latin typeface="微软雅黑"/>
                <a:ea typeface="微软雅黑"/>
              </a:rPr>
              <a:t>第 18 页 / 共 20 页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团队成员详细分工（三）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371600"/>
            <a:ext cx="1005840" cy="1005840"/>
          </a:xfrm>
          <a:prstGeom prst="ellipse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子霄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417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3366"/>
                </a:solidFill>
                <a:latin typeface="微软雅黑"/>
                <a:ea typeface="微软雅黑"/>
              </a:rPr>
              <a:t>李子霄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4447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8C00"/>
                </a:solidFill>
                <a:latin typeface="微软雅黑"/>
                <a:ea typeface="微软雅黑"/>
              </a:rPr>
              <a:t>数据库工程师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78308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05050"/>
                </a:solidFill>
                <a:latin typeface="微软雅黑"/>
                <a:ea typeface="微软雅黑"/>
              </a:rPr>
              <a:t>主要职责：负责数据库的整体架构设计和表结构设计；编写和优化SQL语句，提升查询效率；设计数据库索引和分区策略，优化数据库性能；制定数据备份和恢复方案，确保数据安全；进行数据库性能监控和调优，保障数据库稳定运行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05050"/>
                </a:solidFill>
                <a:latin typeface="微软雅黑"/>
                <a:ea typeface="微软雅黑"/>
              </a:rPr>
              <a:t>负责模块：数据库架构设计、表结构设计、SQL优化、索引优化、数据备份恢复、性能调优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2514600"/>
            <a:ext cx="7132320" cy="9144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2651760"/>
            <a:ext cx="1005840" cy="1005840"/>
          </a:xfrm>
          <a:prstGeom prst="ellipse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智庆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697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3366"/>
                </a:solidFill>
                <a:latin typeface="微软雅黑"/>
                <a:ea typeface="微软雅黑"/>
              </a:rPr>
              <a:t>李智庆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7249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8C00"/>
                </a:solidFill>
                <a:latin typeface="微软雅黑"/>
                <a:ea typeface="微软雅黑"/>
              </a:rPr>
              <a:t>运维工程师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06324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05050"/>
                </a:solidFill>
                <a:latin typeface="微软雅黑"/>
                <a:ea typeface="微软雅黑"/>
              </a:rPr>
              <a:t>主要职责：负责服务器环境的搭建和配置，包括操作系统、中间件等；制定系统部署方案，实现自动化部署；配置网络安全策略，加固系统安全防护；搭建监控系统，实时监控服务器和应用运行状态；处理系统故障，保障系统7×24小时稳定运行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38328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05050"/>
                </a:solidFill>
                <a:latin typeface="微软雅黑"/>
                <a:ea typeface="微软雅黑"/>
              </a:rPr>
              <a:t>负责模块：环境搭建配置、系统部署发布、安全加固、监控告警、故障排查、运维自动化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6019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微软雅黑"/>
                <a:ea typeface="微软雅黑"/>
              </a:rPr>
              <a:t>中州养老智慧管理平台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6019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  <a:latin typeface="微软雅黑"/>
                <a:ea typeface="微软雅黑"/>
              </a:rPr>
              <a:t>第 19 页 / 共 20 页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71600" y="1371600"/>
            <a:ext cx="1828800" cy="18288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200" b="1">
                <a:solidFill>
                  <a:srgbClr val="003366"/>
                </a:solidFill>
                <a:latin typeface="微软雅黑"/>
                <a:ea typeface="微软雅黑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0" y="16459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项目成果与效益分析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2651760"/>
            <a:ext cx="1371600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0" y="28346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CFF"/>
                </a:solidFill>
                <a:latin typeface="微软雅黑"/>
                <a:ea typeface="微软雅黑"/>
              </a:rPr>
              <a:t>Achievements &amp; Benefits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项目成果与效益分析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011680" cy="100584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管理效益</a:t>
            </a:r>
          </a:p>
        </p:txBody>
      </p:sp>
      <p:sp>
        <p:nvSpPr>
          <p:cNvPr id="6" name="Oval 5"/>
          <p:cNvSpPr/>
          <p:nvPr/>
        </p:nvSpPr>
        <p:spPr>
          <a:xfrm>
            <a:off x="2743200" y="1527048"/>
            <a:ext cx="109728" cy="10972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71800" y="141732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C3C3C"/>
                </a:solidFill>
                <a:latin typeface="微软雅黑"/>
                <a:ea typeface="微软雅黑"/>
              </a:rPr>
              <a:t>管理效率提升60%以上，业务流程全面数字化</a:t>
            </a:r>
          </a:p>
        </p:txBody>
      </p:sp>
      <p:sp>
        <p:nvSpPr>
          <p:cNvPr id="8" name="Oval 7"/>
          <p:cNvSpPr/>
          <p:nvPr/>
        </p:nvSpPr>
        <p:spPr>
          <a:xfrm>
            <a:off x="2743200" y="1911096"/>
            <a:ext cx="109728" cy="10972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1801368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C3C3C"/>
                </a:solidFill>
                <a:latin typeface="微软雅黑"/>
                <a:ea typeface="微软雅黑"/>
              </a:rPr>
              <a:t>人力成本显著降低，减少重复劳动和人工错误</a:t>
            </a:r>
          </a:p>
        </p:txBody>
      </p:sp>
      <p:sp>
        <p:nvSpPr>
          <p:cNvPr id="10" name="Oval 9"/>
          <p:cNvSpPr/>
          <p:nvPr/>
        </p:nvSpPr>
        <p:spPr>
          <a:xfrm>
            <a:off x="2743200" y="2295144"/>
            <a:ext cx="109728" cy="10972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2185416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C3C3C"/>
                </a:solidFill>
                <a:latin typeface="微软雅黑"/>
                <a:ea typeface="微软雅黑"/>
              </a:rPr>
              <a:t>数据驱动决策，管理更加科学精准</a:t>
            </a:r>
          </a:p>
        </p:txBody>
      </p:sp>
      <p:sp>
        <p:nvSpPr>
          <p:cNvPr id="12" name="Oval 11"/>
          <p:cNvSpPr/>
          <p:nvPr/>
        </p:nvSpPr>
        <p:spPr>
          <a:xfrm>
            <a:off x="2743200" y="2679192"/>
            <a:ext cx="109728" cy="10972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2569464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C3C3C"/>
                </a:solidFill>
                <a:latin typeface="微软雅黑"/>
                <a:ea typeface="微软雅黑"/>
              </a:rPr>
              <a:t>服务流程标准化，服务质量持续稳定改善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60320"/>
            <a:ext cx="2011680" cy="1005840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服务效益</a:t>
            </a:r>
          </a:p>
        </p:txBody>
      </p:sp>
      <p:sp>
        <p:nvSpPr>
          <p:cNvPr id="15" name="Oval 14"/>
          <p:cNvSpPr/>
          <p:nvPr/>
        </p:nvSpPr>
        <p:spPr>
          <a:xfrm>
            <a:off x="2743200" y="2715768"/>
            <a:ext cx="109728" cy="10972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1800" y="260604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C3C3C"/>
                </a:solidFill>
                <a:latin typeface="微软雅黑"/>
                <a:ea typeface="微软雅黑"/>
              </a:rPr>
              <a:t>服务质量全面提升，规范化护理流程</a:t>
            </a:r>
          </a:p>
        </p:txBody>
      </p:sp>
      <p:sp>
        <p:nvSpPr>
          <p:cNvPr id="17" name="Oval 16"/>
          <p:cNvSpPr/>
          <p:nvPr/>
        </p:nvSpPr>
        <p:spPr>
          <a:xfrm>
            <a:off x="2743200" y="3099816"/>
            <a:ext cx="109728" cy="10972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71800" y="2990088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C3C3C"/>
                </a:solidFill>
                <a:latin typeface="微软雅黑"/>
                <a:ea typeface="微软雅黑"/>
              </a:rPr>
              <a:t>响应速度大幅加快，信息实时传递</a:t>
            </a:r>
          </a:p>
        </p:txBody>
      </p:sp>
      <p:sp>
        <p:nvSpPr>
          <p:cNvPr id="19" name="Oval 18"/>
          <p:cNvSpPr/>
          <p:nvPr/>
        </p:nvSpPr>
        <p:spPr>
          <a:xfrm>
            <a:off x="2743200" y="3483864"/>
            <a:ext cx="109728" cy="10972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71800" y="3374136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C3C3C"/>
                </a:solidFill>
                <a:latin typeface="微软雅黑"/>
                <a:ea typeface="微软雅黑"/>
              </a:rPr>
              <a:t>家属满意度显著提高，信息透明对称</a:t>
            </a:r>
          </a:p>
        </p:txBody>
      </p:sp>
      <p:sp>
        <p:nvSpPr>
          <p:cNvPr id="21" name="Oval 20"/>
          <p:cNvSpPr/>
          <p:nvPr/>
        </p:nvSpPr>
        <p:spPr>
          <a:xfrm>
            <a:off x="2743200" y="3867912"/>
            <a:ext cx="109728" cy="10972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3758184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C3C3C"/>
                </a:solidFill>
                <a:latin typeface="微软雅黑"/>
                <a:ea typeface="微软雅黑"/>
              </a:rPr>
              <a:t>老人体验持续优化，个性化服务到位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749039"/>
            <a:ext cx="2011680" cy="10058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经济效益</a:t>
            </a:r>
          </a:p>
        </p:txBody>
      </p:sp>
      <p:sp>
        <p:nvSpPr>
          <p:cNvPr id="24" name="Oval 23"/>
          <p:cNvSpPr/>
          <p:nvPr/>
        </p:nvSpPr>
        <p:spPr>
          <a:xfrm>
            <a:off x="2743200" y="3904487"/>
            <a:ext cx="109728" cy="10972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71800" y="3794759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C3C3C"/>
                </a:solidFill>
                <a:latin typeface="微软雅黑"/>
                <a:ea typeface="微软雅黑"/>
              </a:rPr>
              <a:t>运营成本降低20%-30%，人力管理成本双下降</a:t>
            </a:r>
          </a:p>
        </p:txBody>
      </p:sp>
      <p:sp>
        <p:nvSpPr>
          <p:cNvPr id="26" name="Oval 25"/>
          <p:cNvSpPr/>
          <p:nvPr/>
        </p:nvSpPr>
        <p:spPr>
          <a:xfrm>
            <a:off x="2743200" y="4288535"/>
            <a:ext cx="109728" cy="10972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71800" y="4178807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C3C3C"/>
                </a:solidFill>
                <a:latin typeface="微软雅黑"/>
                <a:ea typeface="微软雅黑"/>
              </a:rPr>
              <a:t>床位利用率提升15%以上，资源充分利用</a:t>
            </a:r>
          </a:p>
        </p:txBody>
      </p:sp>
      <p:sp>
        <p:nvSpPr>
          <p:cNvPr id="28" name="Oval 27"/>
          <p:cNvSpPr/>
          <p:nvPr/>
        </p:nvSpPr>
        <p:spPr>
          <a:xfrm>
            <a:off x="2743200" y="4672583"/>
            <a:ext cx="109728" cy="10972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71800" y="4562855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C3C3C"/>
                </a:solidFill>
                <a:latin typeface="微软雅黑"/>
                <a:ea typeface="微软雅黑"/>
              </a:rPr>
              <a:t>服务能力增强，同等配置服务更多老人</a:t>
            </a:r>
          </a:p>
        </p:txBody>
      </p:sp>
      <p:sp>
        <p:nvSpPr>
          <p:cNvPr id="30" name="Oval 29"/>
          <p:cNvSpPr/>
          <p:nvPr/>
        </p:nvSpPr>
        <p:spPr>
          <a:xfrm>
            <a:off x="2743200" y="5056631"/>
            <a:ext cx="109728" cy="10972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71800" y="4946903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C3C3C"/>
                </a:solidFill>
                <a:latin typeface="微软雅黑"/>
                <a:ea typeface="微软雅黑"/>
              </a:rPr>
              <a:t>品牌价值提升，市场竞争力显著增强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937760"/>
            <a:ext cx="2011680" cy="1005840"/>
          </a:xfrm>
          <a:prstGeom prst="rect">
            <a:avLst/>
          </a:prstGeom>
          <a:solidFill>
            <a:srgbClr val="965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社会效益</a:t>
            </a:r>
          </a:p>
        </p:txBody>
      </p:sp>
      <p:sp>
        <p:nvSpPr>
          <p:cNvPr id="33" name="Oval 32"/>
          <p:cNvSpPr/>
          <p:nvPr/>
        </p:nvSpPr>
        <p:spPr>
          <a:xfrm>
            <a:off x="2743200" y="5093208"/>
            <a:ext cx="109728" cy="10972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71800" y="498348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C3C3C"/>
                </a:solidFill>
                <a:latin typeface="微软雅黑"/>
                <a:ea typeface="微软雅黑"/>
              </a:rPr>
              <a:t>推动行业数字化转型，树立智慧养老标杆</a:t>
            </a:r>
          </a:p>
        </p:txBody>
      </p:sp>
      <p:sp>
        <p:nvSpPr>
          <p:cNvPr id="35" name="Oval 34"/>
          <p:cNvSpPr/>
          <p:nvPr/>
        </p:nvSpPr>
        <p:spPr>
          <a:xfrm>
            <a:off x="2743200" y="5477256"/>
            <a:ext cx="109728" cy="10972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71800" y="5367528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C3C3C"/>
                </a:solidFill>
                <a:latin typeface="微软雅黑"/>
                <a:ea typeface="微软雅黑"/>
              </a:rPr>
              <a:t>缓解养老服务压力，科技赋能提升供给能力</a:t>
            </a:r>
          </a:p>
        </p:txBody>
      </p:sp>
      <p:sp>
        <p:nvSpPr>
          <p:cNvPr id="37" name="Oval 36"/>
          <p:cNvSpPr/>
          <p:nvPr/>
        </p:nvSpPr>
        <p:spPr>
          <a:xfrm>
            <a:off x="2743200" y="5861304"/>
            <a:ext cx="109728" cy="10972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71800" y="5751576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C3C3C"/>
                </a:solidFill>
                <a:latin typeface="微软雅黑"/>
                <a:ea typeface="微软雅黑"/>
              </a:rPr>
              <a:t>促进服务标准化，提升行业整体水平</a:t>
            </a:r>
          </a:p>
        </p:txBody>
      </p:sp>
      <p:sp>
        <p:nvSpPr>
          <p:cNvPr id="39" name="Oval 38"/>
          <p:cNvSpPr/>
          <p:nvPr/>
        </p:nvSpPr>
        <p:spPr>
          <a:xfrm>
            <a:off x="2743200" y="6245352"/>
            <a:ext cx="109728" cy="10972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71800" y="6135624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C3C3C"/>
                </a:solidFill>
                <a:latin typeface="微软雅黑"/>
                <a:ea typeface="微软雅黑"/>
              </a:rPr>
              <a:t>助力积极应对人口老龄化国家战略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66019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微软雅黑"/>
                <a:ea typeface="微软雅黑"/>
              </a:rPr>
              <a:t>中州养老智慧管理平台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0" y="66019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  <a:latin typeface="微软雅黑"/>
                <a:ea typeface="微软雅黑"/>
              </a:rPr>
              <a:t>第 20 页 / 共 20 页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71600" y="1371600"/>
            <a:ext cx="1828800" cy="18288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200" b="1">
                <a:solidFill>
                  <a:srgbClr val="003366"/>
                </a:solidFill>
                <a:latin typeface="微软雅黑"/>
                <a:ea typeface="微软雅黑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0" y="16459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未来规划与发展展望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2651760"/>
            <a:ext cx="1371600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0" y="28346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CFF"/>
                </a:solidFill>
                <a:latin typeface="微软雅黑"/>
                <a:ea typeface="微软雅黑"/>
              </a:rPr>
              <a:t>Future Planning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未来规划与发展展望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73152" cy="3200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366"/>
                </a:solidFill>
                <a:latin typeface="微软雅黑"/>
                <a:ea typeface="微软雅黑"/>
              </a:rPr>
              <a:t>【短期规划（3-6个月）】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874520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移动端APP开发，随时随地办公管理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221992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家属端微信小程序，随时了解老人动态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569464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7802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智能硬件接入（智能床垫、生命体征监测）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916936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82549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电子病历系统，健康档案全面电子化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64408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1729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一键呼叫系统，紧急情况快速响应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57600"/>
            <a:ext cx="73152" cy="3200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63931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366"/>
                </a:solidFill>
                <a:latin typeface="微软雅黑"/>
                <a:ea typeface="微软雅黑"/>
              </a:rPr>
              <a:t>【中期规划（6-12个月）】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4160520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0690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AI智能排班系统，优化人力资源配置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4507992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4165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视频AI跌倒检测，自动识别快速报警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" y="4855464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6402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智能用药管理，提醒+记录+追溯</a:t>
            </a:r>
          </a:p>
        </p:txBody>
      </p:sp>
      <p:sp>
        <p:nvSpPr>
          <p:cNvPr id="25" name="Oval 24"/>
          <p:cNvSpPr/>
          <p:nvPr/>
        </p:nvSpPr>
        <p:spPr>
          <a:xfrm>
            <a:off x="731520" y="5202936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11149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大数据分析平台，挖掘数据价值</a:t>
            </a:r>
          </a:p>
        </p:txBody>
      </p:sp>
      <p:sp>
        <p:nvSpPr>
          <p:cNvPr id="27" name="Oval 26"/>
          <p:cNvSpPr/>
          <p:nvPr/>
        </p:nvSpPr>
        <p:spPr>
          <a:xfrm>
            <a:off x="731520" y="5550408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4589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膳食营养管理，个性化饮食方案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1371600"/>
            <a:ext cx="18288" cy="475488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846320" y="1371600"/>
            <a:ext cx="73152" cy="3200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0" y="135331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366"/>
                </a:solidFill>
                <a:latin typeface="微软雅黑"/>
                <a:ea typeface="微软雅黑"/>
              </a:rPr>
              <a:t>【长期规划（1-2年）】</a:t>
            </a:r>
          </a:p>
        </p:txBody>
      </p:sp>
      <p:sp>
        <p:nvSpPr>
          <p:cNvPr id="32" name="Oval 31"/>
          <p:cNvSpPr/>
          <p:nvPr/>
        </p:nvSpPr>
        <p:spPr>
          <a:xfrm>
            <a:off x="5029200" y="1874520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80" y="17830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平台化运营，从单机构向多机构扩展</a:t>
            </a:r>
          </a:p>
        </p:txBody>
      </p:sp>
      <p:sp>
        <p:nvSpPr>
          <p:cNvPr id="34" name="Oval 33"/>
          <p:cNvSpPr/>
          <p:nvPr/>
        </p:nvSpPr>
        <p:spPr>
          <a:xfrm>
            <a:off x="5029200" y="2221992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12080" y="21305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生态体系建设，整合医疗康复文娱资源</a:t>
            </a:r>
          </a:p>
        </p:txBody>
      </p:sp>
      <p:sp>
        <p:nvSpPr>
          <p:cNvPr id="36" name="Oval 35"/>
          <p:cNvSpPr/>
          <p:nvPr/>
        </p:nvSpPr>
        <p:spPr>
          <a:xfrm>
            <a:off x="5029200" y="2569464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12080" y="247802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AI深度赋能，全场景智能化应用</a:t>
            </a:r>
          </a:p>
        </p:txBody>
      </p:sp>
      <p:sp>
        <p:nvSpPr>
          <p:cNvPr id="38" name="Oval 37"/>
          <p:cNvSpPr/>
          <p:nvPr/>
        </p:nvSpPr>
        <p:spPr>
          <a:xfrm>
            <a:off x="5029200" y="2916936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12080" y="282549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连锁化支持，统一管理规模化运营</a:t>
            </a:r>
          </a:p>
        </p:txBody>
      </p:sp>
      <p:sp>
        <p:nvSpPr>
          <p:cNvPr id="40" name="Oval 39"/>
          <p:cNvSpPr/>
          <p:nvPr/>
        </p:nvSpPr>
        <p:spPr>
          <a:xfrm>
            <a:off x="5029200" y="3264408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12080" y="31729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社区养老延伸，机构-社区-居家三位一体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46320" y="3657600"/>
            <a:ext cx="73152" cy="3200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0" y="363931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366"/>
                </a:solidFill>
                <a:latin typeface="微软雅黑"/>
                <a:ea typeface="微软雅黑"/>
              </a:rPr>
              <a:t>【愿景展望】</a:t>
            </a:r>
          </a:p>
        </p:txBody>
      </p:sp>
      <p:sp>
        <p:nvSpPr>
          <p:cNvPr id="44" name="Oval 43"/>
          <p:cNvSpPr/>
          <p:nvPr/>
        </p:nvSpPr>
        <p:spPr>
          <a:xfrm>
            <a:off x="5029200" y="4160520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12080" y="40690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用科技的力量温暖每一位老人</a:t>
            </a:r>
          </a:p>
        </p:txBody>
      </p:sp>
      <p:sp>
        <p:nvSpPr>
          <p:cNvPr id="46" name="Oval 45"/>
          <p:cNvSpPr/>
          <p:nvPr/>
        </p:nvSpPr>
        <p:spPr>
          <a:xfrm>
            <a:off x="5029200" y="4507992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12080" y="44165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让每一位老人享有有尊严、有品质的晚年</a:t>
            </a:r>
          </a:p>
        </p:txBody>
      </p:sp>
      <p:sp>
        <p:nvSpPr>
          <p:cNvPr id="48" name="Oval 47"/>
          <p:cNvSpPr/>
          <p:nvPr/>
        </p:nvSpPr>
        <p:spPr>
          <a:xfrm>
            <a:off x="5029200" y="4855464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212080" y="476402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打造智慧养老行业标杆品牌</a:t>
            </a:r>
          </a:p>
        </p:txBody>
      </p:sp>
      <p:sp>
        <p:nvSpPr>
          <p:cNvPr id="50" name="Oval 49"/>
          <p:cNvSpPr/>
          <p:nvPr/>
        </p:nvSpPr>
        <p:spPr>
          <a:xfrm>
            <a:off x="5029200" y="5202936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12080" y="511149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为我国养老事业发展贡献力量</a:t>
            </a:r>
          </a:p>
        </p:txBody>
      </p:sp>
      <p:sp>
        <p:nvSpPr>
          <p:cNvPr id="52" name="Oval 51"/>
          <p:cNvSpPr/>
          <p:nvPr/>
        </p:nvSpPr>
        <p:spPr>
          <a:xfrm>
            <a:off x="5029200" y="5550408"/>
            <a:ext cx="91440" cy="9144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12080" y="54589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微软雅黑"/>
                <a:ea typeface="微软雅黑"/>
              </a:rPr>
              <a:t>科技赋能养老，智慧守护夕阳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66019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微软雅黑"/>
                <a:ea typeface="微软雅黑"/>
              </a:rPr>
              <a:t>中州养老智慧管理平台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0" y="66019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  <a:latin typeface="微软雅黑"/>
                <a:ea typeface="微软雅黑"/>
              </a:rPr>
              <a:t>第 21 页 / 共 20 页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9144000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9144000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  <a:latin typeface="微软雅黑"/>
                <a:ea typeface="微软雅黑"/>
              </a:rPr>
              <a:t>感 谢 聆 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749039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4C8E6"/>
                </a:solidFill>
                <a:latin typeface="微软雅黑"/>
                <a:ea typeface="微软雅黑"/>
              </a:rPr>
              <a:t>THANK YOU FOR YOUR 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937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C000"/>
                </a:solidFill>
                <a:latin typeface="微软雅黑"/>
                <a:ea typeface="微软雅黑"/>
              </a:rPr>
              <a:t>期待与您的合作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394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DCFF"/>
                </a:solidFill>
                <a:latin typeface="微软雅黑"/>
                <a:ea typeface="微软雅黑"/>
              </a:rPr>
              <a:t>中州养老智慧管理平台 · 让养老更智慧 让夕阳更美好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